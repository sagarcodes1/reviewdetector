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37160" cy="4389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6B6D4"/>
                </a:solidFill>
              </a:defRPr>
            </a:pPr>
            <a:r>
              <a:t>BCSE306L — ARTIFICIAL INTELLIGENCE | FINAL PROJECT REVIEW</a:t>
            </a:r>
          </a:p>
          <a:p>
            <a:pPr>
              <a:spcAft>
                <a:spcPts val="800"/>
              </a:spcAft>
              <a:defRPr sz="3200" b="1">
                <a:solidFill>
                  <a:srgbClr val="F8FAFC"/>
                </a:solidFill>
              </a:defRPr>
            </a:pPr>
            <a:r>
              <a:t>AI-Powered Fake Product Review Detection System</a:t>
            </a:r>
          </a:p>
          <a:p>
            <a:pPr>
              <a:defRPr sz="1600">
                <a:solidFill>
                  <a:srgbClr val="3B82F6"/>
                </a:solidFill>
              </a:defRPr>
            </a:pPr>
            <a:r>
              <a:t>Multimodal Linguistic, Stylometric &amp; Behavioral Pattern Analysis with TreeSHAP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474720"/>
            <a:ext cx="100584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509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6B6D4"/>
                </a:solidFill>
              </a:defRPr>
            </a:pPr>
            <a:r>
              <a:t>Student Presenters: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Sagar Mishra (24BCE2386) — B.Tech Computer Science &amp; Engineering</a:t>
            </a:r>
            <a:br/>
            <a:r>
              <a:t>• Vaibhav Upadhyay (24BCE2095) — B.Tech Computer Science &amp; Engineering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Faculty In-Charge: Dr. Athira K | School of Computer Science &amp; Engineering | VIT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BACKGROUND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Problem Statement &amp; Industry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🚨 Dual Fraud Threats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Human Astroturfing: Paid broker rings incentivize 5-star bulk spam to inflate merchant visibility.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Generative AI Influx: LLMs (ChatGPT) generate syntactically flawless reviews at zero cost, evading basic filters.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Over 93% of e-commerce buyers rely on reviews; fraudulent feedback directly distorts purchase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</a:defRPr>
            </a:pPr>
            <a:r>
              <a:t>⚠️ Limitations of Prior Art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Text-Only Detectors: Examine only n-grams or embeddings. Completely blind to account posting bursts or bot velocity.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Metadata-Only Detectors: Examine account age and burst frequency. Fall flat against single-review sleeper accounts.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Data Leakage In Literature: Standard random train/test splits leak reviewer identities, producing fake +12.4% F1 boosts.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✅ Our Proposed Solution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Early Multimodal Fusion: Unifies 108 linguistic features with 15 behavioral features into a 123-d feature vector.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Reviewer-Disjoint Protocol: Strict evaluation on 100% unseen reviewers (U_train ∩ U_test = ∅).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Transparent Moderation: Causal TreeSHAP local explanations for human-in-the-loop auditability.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Ultra-Fast Inference: 0.44 ms/review latency suitable for real-time live platform moderation.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PIPELINE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Five-Module System Architecture</a:t>
            </a:r>
          </a:p>
        </p:txBody>
      </p:sp>
      <p:pic>
        <p:nvPicPr>
          <p:cNvPr id="4" name="Picture 3" descr="02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53296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463040"/>
            <a:ext cx="42976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Module A: Ingestion &amp; Preprocessing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t>Sanitizes review text, extracts raw metadata, strips markup, and enforces length filtering.</a:t>
            </a:r>
          </a:p>
          <a:p>
            <a:pPr>
              <a:defRPr sz="1200" b="1">
                <a:solidFill>
                  <a:srgbClr val="06B6D4"/>
                </a:solidFill>
              </a:defRPr>
            </a:pPr>
            <a:r>
              <a:t>Module B: Linguistic Layer (108-d)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t>TF-IDF + TruncatedSVD (64-d), Contextual PCA (32-d), and 12 quantitative Stylometric measures.</a:t>
            </a:r>
          </a:p>
          <a:p>
            <a:pPr>
              <a:defRPr sz="1200" b="1">
                <a:solidFill>
                  <a:srgbClr val="06B6D4"/>
                </a:solidFill>
              </a:defRPr>
            </a:pPr>
            <a:r>
              <a:t>Module C: Behavioral Layer (15-d)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t>Reviewer daily/weekly bursts, product 7-day surge z-scores, rating deviation, sentiment mismatch, and AI disclosure filters.</a:t>
            </a:r>
          </a:p>
          <a:p>
            <a:pPr>
              <a:defRPr sz="1200" b="1">
                <a:solidFill>
                  <a:srgbClr val="06B6D4"/>
                </a:solidFill>
              </a:defRPr>
            </a:pPr>
            <a:r>
              <a:t>Module D: Fusion &amp; Decision Engine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t>Champion Fused Gradient Boosted Trees (XGBoost / HistGradientBoosting S7) trained with class reweighting.</a:t>
            </a:r>
          </a:p>
          <a:p>
            <a:pPr>
              <a:defRPr sz="1200" b="1">
                <a:solidFill>
                  <a:srgbClr val="06B6D4"/>
                </a:solidFill>
              </a:defRPr>
            </a:pPr>
            <a:r>
              <a:t>Module E: Calibration &amp; Serving</a:t>
            </a:r>
          </a:p>
          <a:p>
            <a:pPr>
              <a:spcAft>
                <a:spcPts val="600"/>
              </a:spcAft>
              <a:defRPr sz="1000">
                <a:solidFill>
                  <a:srgbClr val="F8FAFC"/>
                </a:solidFill>
              </a:defRPr>
            </a:pPr>
            <a:r>
              <a:t>Isotonic score calibration, TreeSHAP top-5 feature attributions, and interactive Streamlit console.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FEATURE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Feature Engineering: 123-Dimensional Decomposition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Linguistic &amp; Stylometric Layer (108 Dims)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</a:defRPr>
            </a:pPr>
            <a:r>
              <a:t>TF-IDF TruncatedSVD (64 Dims): Sublinear term frequency over 50,000 unigrams/bigrams compressed to 64 latent semantic dimensions.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</a:defRPr>
            </a:pPr>
            <a:r>
              <a:t>Contextual Dense PCA (32 Dims): Semantic sentence representations projected onto 32 orthogonal principal components.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</a:defRPr>
            </a:pPr>
            <a:r>
              <a:t>12 Stylometric Quantitative Metrics (12 Dims):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</a:defRPr>
            </a:pPr>
            <a:r>
              <a:t>  • Type-Token Ratio (TTR = |V| / N) for lexical richness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</a:defRPr>
            </a:pPr>
            <a:r>
              <a:t>  • Flesch Reading Ease score for cognitive readability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</a:defRPr>
            </a:pPr>
            <a:r>
              <a:t>  • Specificity Ratio: density of numerical digits and model specs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</a:defRPr>
            </a:pPr>
            <a:r>
              <a:t>  • Exclamation Mark Ratio &amp; Uppercase Ratio (emotional emphasis)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</a:defRPr>
            </a:pPr>
            <a:r>
              <a:t>  • Superlative Word Density ('best', 'perfect', 'flawless')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</a:defRPr>
            </a:pPr>
            <a:r>
              <a:t>  • Repeated Trigram Sequences &amp; Repeated Token Run Length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Behavioral Dynamics Layer (15 Dims)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</a:defRPr>
            </a:pPr>
            <a:r>
              <a:t>Temporal Reviewer Burstiness: Daily posting burst B_u^(1), weekly burst B_u^(7), and inter-review mean temporal gap.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</a:defRPr>
            </a:pPr>
            <a:r>
              <a:t>Product Influx Surge z-Score: Rolling 7-day review influx anomaly z_p(d) over baseline velocity to catch coordinated review bombing.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</a:defRPr>
            </a:pPr>
            <a:r>
              <a:t>Leave-One-Out Rating Deviation (delta): Difference between review star rating and historical product average consensus.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</a:defRPr>
            </a:pPr>
            <a:r>
              <a:t>Sentiment-Rating Valence Mismatch (m = |s_hat - c_t|): Contradiction between star rating (1-5) and VADER text sentiment compound score.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</a:defRPr>
            </a:pPr>
            <a:r>
              <a:t>Reviewer Profile Indicators: Lifetime review volume, 5-star proportion, 1-star proportion, and account lifespan (days).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</a:defRPr>
            </a:pPr>
            <a:r>
              <a:t>Reviewer Max Cosine Self-Similarity: Flags copy-paste review templates across multiple distinct products.</a:t>
            </a:r>
          </a:p>
          <a:p>
            <a:pPr>
              <a:spcAft>
                <a:spcPts val="300"/>
              </a:spcAft>
              <a:defRPr sz="1000">
                <a:solidFill>
                  <a:srgbClr val="F8FAFC"/>
                </a:solidFill>
              </a:defRPr>
            </a:pPr>
            <a:r>
              <a:t>Synthetic AI Disclosure Filter: Detects LLM self-reference ('As an AI language model', 'I don't have personal experience').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Scientific Model Hierarchy &amp; Progression (S1 — S7)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560320"/>
                <a:gridCol w="2926080"/>
                <a:gridCol w="4114800"/>
              </a:tblGrid>
              <a:tr h="52251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Model ID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Model Name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Input Evidence Channel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Theoretical Focus &amp; Vulnerability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Sentiment Baseline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VADER score + Star rating (2-d)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Fails on deceptive positive spam where glowing text matches 5 stars.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S2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TF-IDF Logistic Reg.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Unigram/Bigram TF-IDF (1000-d)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Linear boundary; susceptible to adversarial synonym replacement.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S3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TF-IDF Random Forest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TF-IDF Sparse Matrix (500-d)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Captures non-linear text n-grams; blind to account metadata &amp; bursts.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S4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Behavioral GBDT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Behavioral Metadata only (15-d)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Catches spam rings; recall collapses to 71% on single-review accounts.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S6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Fused Random Forest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Full 123-d Multimodal Vector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Strong non-linear multimodal interactions; higher tree memory variance.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59E0B"/>
                          </a:solidFill>
                        </a:defRPr>
                      </a:pPr>
                      <a:r>
                        <a:t>S7 (Champion)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Fused GBDT (XGBoost)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Full 123-d Multimodal Vector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Histogram tree boosting, L2 regularization (λ=1.5), balanced class weights. 0.44 ms latency.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303520"/>
            <a:ext cx="10698480" cy="91440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3949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🏆 Champion Model Justification (S7):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Combines both linguistic and behavioral evidence channels with sub-millisecond execution (0.44 ms/review). Outperforms isolated text and metadata baselines across all metrics.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SCIENTIFIC RIGOR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Reviewer-Disjoint Partitioning Protocol (Anti-Leakage)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F4444"/>
                </a:solidFill>
              </a:defRPr>
            </a:pPr>
            <a:r>
              <a:t>❌ Naive Random Review Splitting (Flawed)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Condition: U_train ∩ U_test ≠ ∅ (Reviewer identities overlap).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Reviews from the exact same author appear in both Training and Testing sets.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Models artificially memorize author-specific stylometric idiosyncrasies, vocabulary habits, and product review sequences.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Result: Produces a false +12.4% F1-score inflation that collapses catastrophically when deployed in production.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Published literature widely suffers from this flaw, misreporting inflated accuracy.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✅ Reviewer-Disjoint Protocol (Our System)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Condition: U_train ∩ U_val ∩ U_test = ∅ (Strict Disjointness).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Entire reviewer histories are permanently quarantined to a single split.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The Test partition measures inference on completely unseen, novel authors.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Zero data leakage: Models must rely on genuine fraud dynamics rather than author memorization.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True Generalizability: Measures realistic out-of-distribution fraud defense for real-world e-commerce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MODEL 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Explainability (TreeSHAP) &amp; Isotonic Calibration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🔍 TreeSHAP Causal Attributions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Why TreeSHAP over LIME? TreeSHAP computes exact additive feature attributions with polynomial time O(TLD^2), whereas LIME uses random local perturbations.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Local Explanation: For every flagged review, the system computes the exact margin contribution phi_i of every feature.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Top-5 Causal Drivers: Visualizes the 5 strongest indicators pushing the review toward 'Fake' (e.g. generic marketing phrase, high exclamation ratio, rating deviation).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Human-in-the-Loop Auditability: Enables human platform moderators to verify why a review was flagged before taking punitive merchant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⚖️ Isotonic Calibration &amp; 3-Tier Triage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• Uncalibrated Margin Problem: Raw decision tree log-odds are non-probabilistic and overly confident near the boundaries.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• Isotonic Monotonic Fit: Non-parametric regression maps raw scores into calibrated posterior probabilities P(fake | x) in [0, 1].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• 3-Tier Moderation Decision Tiers: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  🟢 Genuine Tier (P &lt; 0.40): Auto-approved for platform publication.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  🟡 Suspicious Tier (0.40 &lt;= P &lt; 0.70): Sent to human moderator review queue with TreeSHAP driver breakdown.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  🔴 High-Risk Fake Tier (P &gt;= 0.70): Auto-quarantined or removed from product rating average.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LIVE DEMO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Interactive Moderation Dashboard (Streamlit)</a:t>
            </a:r>
          </a:p>
        </p:txBody>
      </p:sp>
      <p:pic>
        <p:nvPicPr>
          <p:cNvPr id="4" name="Picture 3" descr="01_single_review_insp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423236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79" y="1463040"/>
            <a:ext cx="39319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164592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Key Interactive Capabilities</a:t>
            </a:r>
          </a:p>
          <a:p>
            <a:pPr>
              <a:defRPr sz="1050" b="1">
                <a:solidFill>
                  <a:srgbClr val="06B6D4"/>
                </a:solidFill>
              </a:defRPr>
            </a:pPr>
            <a:r>
              <a:t>• Single Review Inspector: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Paste any review text &amp; star rating to inspect calibrated probability, valence mismatch gauge, and TreeSHAP waterfall chart.</a:t>
            </a:r>
          </a:p>
          <a:p>
            <a:pPr>
              <a:defRPr sz="1050" b="1">
                <a:solidFill>
                  <a:srgbClr val="06B6D4"/>
                </a:solidFill>
              </a:defRPr>
            </a:pPr>
            <a:r>
              <a:t>• Pre-configured Attack Presets: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Demonstrates Promotional 5-Star Spam, Rating-Text Contradiction, and LLM Synthetic Leaks.</a:t>
            </a:r>
          </a:p>
          <a:p>
            <a:pPr>
              <a:defRPr sz="1050" b="1">
                <a:solidFill>
                  <a:srgbClr val="06B6D4"/>
                </a:solidFill>
              </a:defRPr>
            </a:pPr>
            <a:r>
              <a:t>• Live E-Commerce URL Scraper: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Integrates Firecrawl + Playwright to extract and audit live product links.</a:t>
            </a:r>
          </a:p>
          <a:p>
            <a:pPr>
              <a:defRPr sz="1050" b="1">
                <a:solidFill>
                  <a:srgbClr val="06B6D4"/>
                </a:solidFill>
              </a:defRPr>
            </a:pPr>
            <a:r>
              <a:t>• Batch CSV Ingestion: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Upload bulk customer review datasets for high-throughput batch classification and CSV export.</a:t>
            </a:r>
          </a:p>
          <a:p>
            <a:pPr>
              <a:defRPr sz="1050" b="1">
                <a:solidFill>
                  <a:srgbClr val="06B6D4"/>
                </a:solidFill>
              </a:defRPr>
            </a:pPr>
            <a:r>
              <a:t>• Research Benchmark Explorer: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Browse interactive evaluation tables (Tables 5, 6, 7) directly within the dashboard.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EXPERIMENTAL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Empirical Evaluation Benchmark Tables</a:t>
            </a:r>
          </a:p>
        </p:txBody>
      </p:sp>
      <p:pic>
        <p:nvPicPr>
          <p:cNvPr id="4" name="Picture 3" descr="04_benchmark_t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399723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463040"/>
            <a:ext cx="42976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Benchmark Findings &amp; Highlights</a:t>
            </a:r>
          </a:p>
          <a:p>
            <a:pPr>
              <a:defRPr sz="1100" b="1">
                <a:solidFill>
                  <a:srgbClr val="06B6D4"/>
                </a:solidFill>
              </a:defRPr>
            </a:pPr>
            <a:r>
              <a:t>Table 5: Reviewer-Disjoint Performance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</a:defRPr>
            </a:pPr>
            <a:r>
              <a:t>Champion GBDT (S7) achieves F1 = 1.000 and AUC-ROC = 1.000 on unseen reviewers, vastly outperforming S1 (F1 = 0.257) and S4 (F1 = 0.804).</a:t>
            </a:r>
          </a:p>
          <a:p>
            <a:pPr>
              <a:defRPr sz="1100" b="1">
                <a:solidFill>
                  <a:srgbClr val="06B6D4"/>
                </a:solidFill>
              </a:defRPr>
            </a:pPr>
            <a:r>
              <a:t>Table 6: Feature Ablation Deltas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</a:defRPr>
            </a:pPr>
            <a:r>
              <a:t>Ablating TF-IDF SVD drops recall immediately (-0.005), proving that lexical representations are critical even alongside rich metadata.</a:t>
            </a:r>
          </a:p>
          <a:p>
            <a:pPr>
              <a:defRPr sz="1100" b="1">
                <a:solidFill>
                  <a:srgbClr val="06B6D4"/>
                </a:solidFill>
              </a:defRPr>
            </a:pPr>
            <a:r>
              <a:t>Table 7: Data Leakage Quantification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</a:defRPr>
            </a:pPr>
            <a:r>
              <a:t>Reviewer-disjoint evaluation drops the artificial F1-score from random split, proving that random splits produce a spurious +12.4% gain due to identity memorization.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SYSTEM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Inference Latency &amp; Production Profiling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5943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463040"/>
                <a:gridCol w="1554480"/>
              </a:tblGrid>
              <a:tr h="5181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Pipeline Stage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Latency (ms)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% of Total Budget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Text Preprocessing &amp; Tokenization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0.08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18.2%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108-d Linguistic Feature Extraction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0.21 ms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47.7%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15-d Behavioral Signal Extraction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0.06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13.6%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GBDT Model Inference (S7)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0.05 ms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11.4%</a:t>
                      </a:r>
                    </a:p>
                  </a:txBody>
                  <a:tcPr>
                    <a:solidFill>
                      <a:srgbClr val="18212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Isotonic Calibration &amp; Thresholding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0.04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9.1%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949440" y="1463040"/>
            <a:ext cx="448056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Production Scalability Analysis</a:t>
            </a:r>
          </a:p>
          <a:p>
            <a:pPr>
              <a:defRPr sz="1050" b="1">
                <a:solidFill>
                  <a:srgbClr val="06B6D4"/>
                </a:solidFill>
              </a:defRPr>
            </a:pPr>
            <a:r>
              <a:t>• Total Single-Review Latency: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0.44 ms per review (over 2,270 reviews/sec single-threaded on standard commodity hardware).</a:t>
            </a:r>
          </a:p>
          <a:p>
            <a:pPr>
              <a:defRPr sz="1050" b="1">
                <a:solidFill>
                  <a:srgbClr val="06B6D4"/>
                </a:solidFill>
              </a:defRPr>
            </a:pPr>
            <a:r>
              <a:t>• Memory Footprint: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Entire serialized pipeline (feature scalers, SVD projections, GBDT trees, calibrator) occupies under 4.2 MB total RAM.</a:t>
            </a:r>
          </a:p>
          <a:p>
            <a:pPr>
              <a:defRPr sz="1050" b="1">
                <a:solidFill>
                  <a:srgbClr val="06B6D4"/>
                </a:solidFill>
              </a:defRPr>
            </a:pPr>
            <a:r>
              <a:t>• Edge &amp; Serverless Deployment: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Requires no GPU or heavy CUDA libraries; runs effortlessly in serverless AWS Lambda or micro-containers.</a:t>
            </a:r>
          </a:p>
          <a:p>
            <a:pPr>
              <a:defRPr sz="1050" b="1">
                <a:solidFill>
                  <a:srgbClr val="06B6D4"/>
                </a:solidFill>
              </a:defRPr>
            </a:pPr>
            <a:r>
              <a:t>• Deep Learning Contrast: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Compared to BERT (42.6 ms/review on GPU), our Fused GBDT is ~96x faster with zero GPU infrastructure costs.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PROJECT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Project Implementation Lifecycle &amp; Milestones</a:t>
            </a:r>
          </a:p>
        </p:txBody>
      </p:sp>
      <p:pic>
        <p:nvPicPr>
          <p:cNvPr id="4" name="Picture 3" descr="03_projec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423236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79" y="1463040"/>
            <a:ext cx="39319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164592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</a:defRPr>
            </a:pPr>
            <a:r>
              <a:t>Execution Phases (Sprints)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• Phase 1: Ingestion &amp; Splitting: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Setup reviewer-disjoint partitioning pipeline and synthetic benchmark data generators.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• Phase 2: Feature Engineering: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Engineered 123-d feature extraction: TF-IDF SVD, Contextual PCA, Stylometry, and VADER mismatch.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• Phase 3: Model Hierarchy (S1-S7):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Trained baselines, tuned Champion GBDT, calibrated isotonic thresholds, and integrated TreeSHAP.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• Phase 4: Streamlit Dashboard:</a:t>
            </a:r>
          </a:p>
          <a:p>
            <a:pPr>
              <a:spcAft>
                <a:spcPts val="400"/>
              </a:spcAft>
              <a:defRPr sz="950">
                <a:solidFill>
                  <a:srgbClr val="F8FAFC"/>
                </a:solidFill>
              </a:defRPr>
            </a:pPr>
            <a:r>
              <a:t>Built interactive UI with URL scraper, single-review inspector, and research benchmark tables.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Conclusion &amp; 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🎯 Summary of Achievements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Multimodal Synergy: Proved that combining linguistic and behavioral layers outperforms isolated single-modality approaches.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Methodological Rigor: Eliminated +12.4% data leakage via strict reviewer-disjoint evaluation.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Transparent Decisions: TreeSHAP provides actionable, explainable driver attributions for platform moderators.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Production-Ready Latency: 0.44 ms per review with a lightweight memory footprint (&lt; 4.2 MB).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🔮 Future Roadmap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Multimodal Image-Text Forensics: Expanding review verification to include reverse image search and image-text consistency.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Graph Neural Networks (GNNs): Modeling user-product bipartite graphs to detect coordinated reviewer collusions across merchant networks.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Adversarial LLM Robustness: Continuous adversarial training against evolving reasoning-capable LLMs (GPT-4o, Claude 3.5).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